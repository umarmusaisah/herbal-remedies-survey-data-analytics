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5"/>
    <a:srgbClr val="212121"/>
    <a:srgbClr val="777777"/>
    <a:srgbClr val="555555"/>
    <a:srgbClr val="2E7D32"/>
    <a:srgbClr val="333333"/>
    <a:srgbClr val="E8F5E9"/>
    <a:srgbClr val="C8E6C9"/>
    <a:srgbClr val="FFF4E5"/>
    <a:srgbClr val="F1D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>
        <p:scale>
          <a:sx n="40" d="100"/>
          <a:sy n="40" d="100"/>
        </p:scale>
        <p:origin x="208" y="9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319A-5BA9-B616-B567-196E0EF21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007B8-616B-51AC-0165-AC6A35B71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86C59-8EF8-5BFD-9031-49AA1CFC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0F270-D12D-BAB9-D55B-B04E5250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C5389-4C76-7073-5080-B3C88F1F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53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C762-487B-82CF-515D-77529C7AC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ADEBD-1E17-FE01-0020-C4B9A0A32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ED94D-62A0-F584-1CD9-C5F9B0D5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2FE8F-40F8-60F0-CCED-C8C6CABBB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11F0-8598-7572-8DCA-2B877BED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9EF4-AAF5-9453-B89E-714AA6BE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A2A09-3F3B-C031-BFF2-0AD77CA3B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C1E0A-CAFC-5F92-7881-1046F009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CD36C-EC37-4CFD-B46C-0BC17382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08B3D-9F0F-AFD4-B78C-BF76BCE2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4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1C00-89AC-3246-22F9-B07836D1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C6AB5-B445-B549-E986-A6D5ED79C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E4523-4B7F-1023-F248-65F389793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0EF94-8D32-A575-F86C-CC438B0BC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0A5EC-470B-8134-FAC6-5B1D0D2A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566E3-FADB-6825-94AD-D3454B07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29EF-6253-D366-D79E-529F38BE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C8364-6928-D0DD-A085-E6D5EB435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B6091-5132-2CFC-BD99-C50F44A5F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D7B31-10F6-6639-5DF6-7558554EC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F7661-19AE-D655-442E-75CAF7148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795FF-E051-7A4A-55A4-AF6B09A8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F38E7-E25F-5056-E152-A35A5B35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2B9AA-7566-F3EE-2072-8542405D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3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AD8F-6B33-4BCA-606F-F3AF0BF5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0FC7C-1D65-121E-63BA-EAFC8FAA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B00C5-37DC-EB6D-B503-6F4922C3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E9F72-FE45-CACF-4AF8-66AB5E50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4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EB95CB-ED2E-5439-CBA7-2AB5C38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DCFA3B-9C1D-B575-3E73-18A3A90B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9AC9B-4C7C-37BB-C9CD-6E5DD0AC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56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CCED-CB4E-78E3-FFC3-3EE7CDAD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0DE94-19D1-8DB7-54CC-7EC7F6F9F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76569-486D-E4FC-3E94-97A6C2859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EAD50-1A28-FDEF-38C3-A9C66958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03687-5043-209E-1F95-7363BC10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1AE11-B040-DCB3-0F8C-E2E749E5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4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853D-B79E-B1DF-4A1B-C37FF67B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CB205-8C4F-1857-C141-A3A837549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ADEB5-FAB4-89F9-52F6-03D9025BD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23847-729A-196F-CA72-5CAC81B5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C29B3-E197-2080-B81F-138623C4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03E52-1BAD-1B7B-ECA0-28A673D3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4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760B-8640-709A-6221-26083234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1D4BA-E312-80F9-E70A-247AE228D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00DE4-CD27-CBD3-6251-0DBD89E0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89C25-7EED-4101-6B56-923CB190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8E6E8-8193-D1D4-6643-7420C3D9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5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3BE80-D921-16FA-6464-B2DAACDBF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BF325-2E54-7450-5447-B1A26779D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C5E91-CE75-1325-BCF3-0CC2BE5A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55C8-EDE7-1097-313D-D8704D91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1055F-FE92-FAE5-DBBA-977D8CE1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6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51858-B3FC-A26E-DBAC-7D5B47FA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5273A-7B60-7558-7156-F2D4B64B7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C570C-FA25-99BC-1955-4E79877AE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17A3C-1F9D-4BE2-A9C0-FB0A16232F7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AFEF-821B-0D0D-03F0-98BD992F2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1F2F-2667-DF35-C062-050E9ADAD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7C600-7C58-4492-8258-A9470A16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5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99E073-65B6-EA09-FF5B-4B5D88F761D0}"/>
              </a:ext>
            </a:extLst>
          </p:cNvPr>
          <p:cNvSpPr/>
          <p:nvPr/>
        </p:nvSpPr>
        <p:spPr>
          <a:xfrm>
            <a:off x="0" y="914386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DB314-698F-BE57-EF0B-11C8A3C4079A}"/>
              </a:ext>
            </a:extLst>
          </p:cNvPr>
          <p:cNvSpPr txBox="1"/>
          <p:nvPr/>
        </p:nvSpPr>
        <p:spPr>
          <a:xfrm>
            <a:off x="180108" y="1233043"/>
            <a:ext cx="11817927" cy="1200329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Herbal Remedies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03D24-199D-513D-697A-A46FA4475788}"/>
              </a:ext>
            </a:extLst>
          </p:cNvPr>
          <p:cNvSpPr txBox="1"/>
          <p:nvPr/>
        </p:nvSpPr>
        <p:spPr>
          <a:xfrm>
            <a:off x="4322618" y="2124944"/>
            <a:ext cx="518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Field Survey Report </a:t>
            </a:r>
            <a:endParaRPr lang="en-US" sz="3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9017EC-5076-ECFD-ABCD-9073DB8D1A30}"/>
              </a:ext>
            </a:extLst>
          </p:cNvPr>
          <p:cNvSpPr/>
          <p:nvPr/>
        </p:nvSpPr>
        <p:spPr>
          <a:xfrm>
            <a:off x="5296810" y="4746265"/>
            <a:ext cx="1579419" cy="3048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BD4AC5-3ADF-F1A2-6A93-B7523CB63172}"/>
              </a:ext>
            </a:extLst>
          </p:cNvPr>
          <p:cNvSpPr/>
          <p:nvPr/>
        </p:nvSpPr>
        <p:spPr>
          <a:xfrm>
            <a:off x="5310660" y="3629985"/>
            <a:ext cx="1579419" cy="3048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989C3-5ED4-BADB-26BF-E8F151B08E8F}"/>
              </a:ext>
            </a:extLst>
          </p:cNvPr>
          <p:cNvSpPr txBox="1"/>
          <p:nvPr/>
        </p:nvSpPr>
        <p:spPr>
          <a:xfrm>
            <a:off x="4523872" y="3657785"/>
            <a:ext cx="304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Program:</a:t>
            </a:r>
          </a:p>
          <a:p>
            <a:pPr algn="ctr"/>
            <a:r>
              <a:rPr lang="en-US" b="1" dirty="0">
                <a:solidFill>
                  <a:schemeClr val="accent3"/>
                </a:solidFill>
              </a:rPr>
              <a:t>Data Analytics Bootcamp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B1401-707C-0A38-1739-CD659FFFD457}"/>
              </a:ext>
            </a:extLst>
          </p:cNvPr>
          <p:cNvSpPr txBox="1"/>
          <p:nvPr/>
        </p:nvSpPr>
        <p:spPr>
          <a:xfrm>
            <a:off x="4523872" y="4732405"/>
            <a:ext cx="3048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Presented by: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UMAR MUSA ISAH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AFFC15-A4F0-4554-A0D6-B2B7D4F2346F}"/>
              </a:ext>
            </a:extLst>
          </p:cNvPr>
          <p:cNvSpPr/>
          <p:nvPr/>
        </p:nvSpPr>
        <p:spPr>
          <a:xfrm>
            <a:off x="5292427" y="5988083"/>
            <a:ext cx="1579419" cy="3048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17442-E57F-913F-92CF-3B0C0401DE67}"/>
              </a:ext>
            </a:extLst>
          </p:cNvPr>
          <p:cNvSpPr txBox="1"/>
          <p:nvPr/>
        </p:nvSpPr>
        <p:spPr>
          <a:xfrm>
            <a:off x="5037220" y="6040588"/>
            <a:ext cx="2005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Date: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86963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D0F38E-2CB2-E915-2EB1-93D28DDBE71F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EECED-7183-22DB-9D8E-B0147B88BE48}"/>
              </a:ext>
            </a:extLst>
          </p:cNvPr>
          <p:cNvSpPr txBox="1"/>
          <p:nvPr/>
        </p:nvSpPr>
        <p:spPr>
          <a:xfrm>
            <a:off x="0" y="1050967"/>
            <a:ext cx="5292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727B17-E80B-EC91-B1B8-AB2C4CD71D23}"/>
              </a:ext>
            </a:extLst>
          </p:cNvPr>
          <p:cNvCxnSpPr>
            <a:cxnSpLocks/>
          </p:cNvCxnSpPr>
          <p:nvPr/>
        </p:nvCxnSpPr>
        <p:spPr>
          <a:xfrm>
            <a:off x="4616970" y="1220422"/>
            <a:ext cx="7575030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18FD812-BFCD-81D5-A0FE-282C27A50BE4}"/>
              </a:ext>
            </a:extLst>
          </p:cNvPr>
          <p:cNvSpPr txBox="1"/>
          <p:nvPr/>
        </p:nvSpPr>
        <p:spPr>
          <a:xfrm>
            <a:off x="4616970" y="2523508"/>
            <a:ext cx="7338331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Herbal remedies have been used for generations across many communities.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Traditional medicine remains an important source of treatment for common illnesses, particularly where affordability, availability, and cultural beliefs influence healthcare choices.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This survey was conducted to understand patterns of herbal remedy use and respondents’ perceptions of their effectiveness.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02AF8E-934A-3C1F-886D-34110CCF0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23" y="2593061"/>
            <a:ext cx="3741282" cy="374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6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F3F71A-F46A-A556-6298-344E35186F0C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E3E3AC-6C32-19FA-D9AB-0030AC42EADE}"/>
              </a:ext>
            </a:extLst>
          </p:cNvPr>
          <p:cNvCxnSpPr>
            <a:cxnSpLocks/>
          </p:cNvCxnSpPr>
          <p:nvPr/>
        </p:nvCxnSpPr>
        <p:spPr>
          <a:xfrm>
            <a:off x="5531370" y="1280382"/>
            <a:ext cx="6660630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7B231C9-4866-EF70-013C-F1E28654A69F}"/>
              </a:ext>
            </a:extLst>
          </p:cNvPr>
          <p:cNvSpPr txBox="1"/>
          <p:nvPr/>
        </p:nvSpPr>
        <p:spPr>
          <a:xfrm>
            <a:off x="-1" y="1115085"/>
            <a:ext cx="5951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SURVEY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B25A1A-B97D-0CA3-D8CD-51480E60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20" y="2426002"/>
            <a:ext cx="3727368" cy="37273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29D654-B2BB-9FD5-EFCB-7AAF2BA53370}"/>
              </a:ext>
            </a:extLst>
          </p:cNvPr>
          <p:cNvSpPr txBox="1"/>
          <p:nvPr/>
        </p:nvSpPr>
        <p:spPr>
          <a:xfrm>
            <a:off x="4668982" y="1884526"/>
            <a:ext cx="6997698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Topic: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Use of Herbal Remedies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Aim:</a:t>
            </a:r>
            <a:br>
              <a:rPr lang="en-US" dirty="0"/>
            </a:br>
            <a:r>
              <a:rPr lang="en-US" dirty="0"/>
              <a:t>       To assess traditional medicine use among respondents.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47A4D-3FF6-C838-6D0B-125122CD733E}"/>
              </a:ext>
            </a:extLst>
          </p:cNvPr>
          <p:cNvSpPr txBox="1"/>
          <p:nvPr/>
        </p:nvSpPr>
        <p:spPr>
          <a:xfrm>
            <a:off x="4668982" y="3417985"/>
            <a:ext cx="6997698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Objectives: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commonly used herbs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Determine reasons for 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Assess perceived effectiveness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Total Respondents in Final Analytical Dataset: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60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8B90D-8FEF-ED96-5FEA-624453130862}"/>
              </a:ext>
            </a:extLst>
          </p:cNvPr>
          <p:cNvSpPr txBox="1"/>
          <p:nvPr/>
        </p:nvSpPr>
        <p:spPr>
          <a:xfrm>
            <a:off x="4668982" y="5449310"/>
            <a:ext cx="6997698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Tools Used for Data Collection: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KoboToolbox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CommCare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Forms</a:t>
            </a:r>
          </a:p>
        </p:txBody>
      </p:sp>
    </p:spTree>
    <p:extLst>
      <p:ext uri="{BB962C8B-B14F-4D97-AF65-F5344CB8AC3E}">
        <p14:creationId xmlns:p14="http://schemas.microsoft.com/office/powerpoint/2010/main" val="49592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ECB254-33A6-A958-6000-C5D092B10516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F349DF-1C97-D0A4-5D3F-CBA58B20859A}"/>
              </a:ext>
            </a:extLst>
          </p:cNvPr>
          <p:cNvCxnSpPr>
            <a:cxnSpLocks/>
          </p:cNvCxnSpPr>
          <p:nvPr/>
        </p:nvCxnSpPr>
        <p:spPr>
          <a:xfrm>
            <a:off x="6096000" y="1295372"/>
            <a:ext cx="6096000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F29579-602B-5B1B-7B90-05E3C5679017}"/>
              </a:ext>
            </a:extLst>
          </p:cNvPr>
          <p:cNvSpPr txBox="1"/>
          <p:nvPr/>
        </p:nvSpPr>
        <p:spPr>
          <a:xfrm>
            <a:off x="-1" y="1115085"/>
            <a:ext cx="63687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RESPONDENT PROFILE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DF71B-7C72-C9BC-2A92-039E81336975}"/>
              </a:ext>
            </a:extLst>
          </p:cNvPr>
          <p:cNvSpPr txBox="1"/>
          <p:nvPr/>
        </p:nvSpPr>
        <p:spPr>
          <a:xfrm>
            <a:off x="151254" y="3293746"/>
            <a:ext cx="6649276" cy="31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survey captured respondent demographic characteristics to support analysis of herbal remedy use across different respondent groups.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demographic variables included gender and age group.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638E2-08A4-0A23-A28F-FF568E2A4F34}"/>
              </a:ext>
            </a:extLst>
          </p:cNvPr>
          <p:cNvSpPr txBox="1"/>
          <p:nvPr/>
        </p:nvSpPr>
        <p:spPr>
          <a:xfrm>
            <a:off x="1976834" y="2535928"/>
            <a:ext cx="3124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12121"/>
                </a:solidFill>
              </a:rPr>
              <a:t>Demographic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326AFF-D350-18B5-923D-2C2EC4D33330}"/>
              </a:ext>
            </a:extLst>
          </p:cNvPr>
          <p:cNvSpPr txBox="1"/>
          <p:nvPr/>
        </p:nvSpPr>
        <p:spPr>
          <a:xfrm>
            <a:off x="8369968" y="2535928"/>
            <a:ext cx="2530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12121"/>
                </a:solidFill>
              </a:rPr>
              <a:t>Profile Variables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47D2F5-4E24-93AD-0F7F-02E4CA38DE0F}"/>
              </a:ext>
            </a:extLst>
          </p:cNvPr>
          <p:cNvSpPr txBox="1"/>
          <p:nvPr/>
        </p:nvSpPr>
        <p:spPr>
          <a:xfrm>
            <a:off x="8637177" y="3824296"/>
            <a:ext cx="2883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7D32"/>
                </a:solidFill>
              </a:rPr>
              <a:t>•</a:t>
            </a:r>
            <a:r>
              <a:rPr lang="en-US" dirty="0">
                <a:solidFill>
                  <a:srgbClr val="333333"/>
                </a:solidFill>
              </a:rPr>
              <a:t> Gender</a:t>
            </a:r>
          </a:p>
          <a:p>
            <a:r>
              <a:rPr lang="en-US" dirty="0">
                <a:solidFill>
                  <a:srgbClr val="2E7D32"/>
                </a:solidFill>
              </a:rPr>
              <a:t>•</a:t>
            </a:r>
            <a:r>
              <a:rPr lang="en-US" dirty="0">
                <a:solidFill>
                  <a:srgbClr val="333333"/>
                </a:solidFill>
              </a:rPr>
              <a:t> Age Group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B9D3F7-FED0-063C-A0DF-19D03366F80E}"/>
              </a:ext>
            </a:extLst>
          </p:cNvPr>
          <p:cNvSpPr/>
          <p:nvPr/>
        </p:nvSpPr>
        <p:spPr>
          <a:xfrm>
            <a:off x="7094621" y="4880965"/>
            <a:ext cx="4427621" cy="155210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7E20C1-621B-06B9-4D7F-4ECF4DF07988}"/>
              </a:ext>
            </a:extLst>
          </p:cNvPr>
          <p:cNvSpPr txBox="1"/>
          <p:nvPr/>
        </p:nvSpPr>
        <p:spPr>
          <a:xfrm>
            <a:off x="7716252" y="5364628"/>
            <a:ext cx="3184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555555"/>
                </a:solidFill>
              </a:rPr>
              <a:t>FINAL ANALYTICAL DATASET</a:t>
            </a:r>
          </a:p>
          <a:p>
            <a:pPr algn="ctr"/>
            <a:r>
              <a:rPr lang="en-US" sz="2000" b="1" dirty="0">
                <a:solidFill>
                  <a:srgbClr val="555555"/>
                </a:solidFill>
              </a:rPr>
              <a:t>60 Respondents</a:t>
            </a:r>
          </a:p>
        </p:txBody>
      </p:sp>
    </p:spTree>
    <p:extLst>
      <p:ext uri="{BB962C8B-B14F-4D97-AF65-F5344CB8AC3E}">
        <p14:creationId xmlns:p14="http://schemas.microsoft.com/office/powerpoint/2010/main" val="205447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46E2AE-2914-23AA-6F2D-F26FF8CCAB3B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5BA618-A271-228B-4544-E264B9C1611E}"/>
              </a:ext>
            </a:extLst>
          </p:cNvPr>
          <p:cNvCxnSpPr>
            <a:cxnSpLocks/>
          </p:cNvCxnSpPr>
          <p:nvPr/>
        </p:nvCxnSpPr>
        <p:spPr>
          <a:xfrm>
            <a:off x="6748272" y="1280382"/>
            <a:ext cx="5413748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F11C22-31E4-7641-5A58-DE3C62A0A667}"/>
              </a:ext>
            </a:extLst>
          </p:cNvPr>
          <p:cNvSpPr txBox="1"/>
          <p:nvPr/>
        </p:nvSpPr>
        <p:spPr>
          <a:xfrm>
            <a:off x="-13856" y="1078060"/>
            <a:ext cx="7356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HERBAL REMEDY USAGE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DF58A9-0856-D514-ACA7-92722D9FA6E5}"/>
              </a:ext>
            </a:extLst>
          </p:cNvPr>
          <p:cNvSpPr/>
          <p:nvPr/>
        </p:nvSpPr>
        <p:spPr>
          <a:xfrm>
            <a:off x="1327731" y="2564605"/>
            <a:ext cx="2788031" cy="1187531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555555"/>
                </a:solidFill>
              </a:rPr>
              <a:t>HERBAL REMEDY USERS</a:t>
            </a:r>
          </a:p>
          <a:p>
            <a:pPr algn="ctr"/>
            <a:r>
              <a:rPr lang="en-US" sz="2600" b="1" dirty="0">
                <a:solidFill>
                  <a:srgbClr val="2E7D32"/>
                </a:solidFill>
              </a:rPr>
              <a:t>95.00%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AEE25-3C7B-0438-F391-E959CB1D450A}"/>
              </a:ext>
            </a:extLst>
          </p:cNvPr>
          <p:cNvSpPr txBox="1"/>
          <p:nvPr/>
        </p:nvSpPr>
        <p:spPr>
          <a:xfrm>
            <a:off x="677100" y="4058733"/>
            <a:ext cx="5056632" cy="190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</a:rPr>
              <a:t>The survey findings indicates a high level of herbal remedy use among the respondents.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</a:rPr>
              <a:t>This suggests that herbal remedies represent a significant  reported healthcare practices.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4B432-6635-FBFB-7A3C-4852B1578549}"/>
              </a:ext>
            </a:extLst>
          </p:cNvPr>
          <p:cNvSpPr txBox="1"/>
          <p:nvPr/>
        </p:nvSpPr>
        <p:spPr>
          <a:xfrm>
            <a:off x="7342632" y="2521059"/>
            <a:ext cx="27880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212121"/>
                </a:solidFill>
              </a:rPr>
              <a:t>KEY USAGE DIMENSIONS</a:t>
            </a:r>
          </a:p>
          <a:p>
            <a:endParaRPr lang="en-US" sz="1600" b="1" dirty="0">
              <a:solidFill>
                <a:srgbClr val="333333"/>
              </a:solidFill>
            </a:endParaRPr>
          </a:p>
          <a:p>
            <a:r>
              <a:rPr lang="en-US" sz="1600" b="1" dirty="0">
                <a:solidFill>
                  <a:srgbClr val="333333"/>
                </a:solidFill>
              </a:rPr>
              <a:t>• Herbal remedy usage</a:t>
            </a:r>
          </a:p>
          <a:p>
            <a:r>
              <a:rPr lang="en-US" sz="1600" b="1" dirty="0">
                <a:solidFill>
                  <a:srgbClr val="333333"/>
                </a:solidFill>
              </a:rPr>
              <a:t>• Commonly used herbs</a:t>
            </a:r>
          </a:p>
          <a:p>
            <a:r>
              <a:rPr lang="en-US" sz="1600" b="1" dirty="0">
                <a:solidFill>
                  <a:srgbClr val="333333"/>
                </a:solidFill>
              </a:rPr>
              <a:t>• Frequency of use</a:t>
            </a:r>
          </a:p>
          <a:p>
            <a:r>
              <a:rPr lang="en-US" sz="1600" b="1" dirty="0">
                <a:solidFill>
                  <a:srgbClr val="333333"/>
                </a:solidFill>
              </a:rPr>
              <a:t>• Reasons for use</a:t>
            </a:r>
          </a:p>
          <a:p>
            <a:r>
              <a:rPr lang="en-US" sz="1600" b="1" dirty="0">
                <a:solidFill>
                  <a:srgbClr val="333333"/>
                </a:solidFill>
              </a:rPr>
              <a:t>• Perceived effectiveness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82C00E-5A51-C050-D760-DEE542FEDBAE}"/>
              </a:ext>
            </a:extLst>
          </p:cNvPr>
          <p:cNvSpPr/>
          <p:nvPr/>
        </p:nvSpPr>
        <p:spPr>
          <a:xfrm>
            <a:off x="7342632" y="4672904"/>
            <a:ext cx="2788031" cy="1289363"/>
          </a:xfrm>
          <a:prstGeom prst="roundRect">
            <a:avLst/>
          </a:prstGeom>
          <a:solidFill>
            <a:srgbClr val="F5F7F5"/>
          </a:solidFill>
          <a:ln>
            <a:solidFill>
              <a:srgbClr val="D9E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777777"/>
                </a:solidFill>
              </a:rPr>
              <a:t>ANALYTICAL FOCUS</a:t>
            </a:r>
          </a:p>
          <a:p>
            <a:pPr algn="ctr"/>
            <a:r>
              <a:rPr lang="en-US" sz="1200" b="1" dirty="0">
                <a:solidFill>
                  <a:srgbClr val="333333"/>
                </a:solidFill>
              </a:rPr>
              <a:t>Understanding why respondents use herbal remedies and how they perceive their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224985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B16A2-E821-68CC-8B5F-7C264839E2B1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CE9C3A-F9D3-639E-4242-A19968F18075}"/>
              </a:ext>
            </a:extLst>
          </p:cNvPr>
          <p:cNvCxnSpPr>
            <a:cxnSpLocks/>
          </p:cNvCxnSpPr>
          <p:nvPr/>
        </p:nvCxnSpPr>
        <p:spPr>
          <a:xfrm>
            <a:off x="7459579" y="1280382"/>
            <a:ext cx="4732421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CC9B938-E0F3-858B-FECC-DC2DDE5DE31A}"/>
              </a:ext>
            </a:extLst>
          </p:cNvPr>
          <p:cNvSpPr txBox="1"/>
          <p:nvPr/>
        </p:nvSpPr>
        <p:spPr>
          <a:xfrm>
            <a:off x="-13857" y="1093050"/>
            <a:ext cx="83397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ANALYTICAL FINDINGS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3FEB1F-BCBE-E5FA-0EED-A359B7921A91}"/>
              </a:ext>
            </a:extLst>
          </p:cNvPr>
          <p:cNvSpPr/>
          <p:nvPr/>
        </p:nvSpPr>
        <p:spPr>
          <a:xfrm>
            <a:off x="222036" y="2109842"/>
            <a:ext cx="2788031" cy="128936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55555"/>
                </a:solidFill>
              </a:rPr>
              <a:t>HERBAL USAGE RATE</a:t>
            </a:r>
          </a:p>
          <a:p>
            <a:pPr algn="ctr"/>
            <a:endParaRPr lang="en-US" sz="1200" b="1" dirty="0">
              <a:solidFill>
                <a:srgbClr val="777777"/>
              </a:solidFill>
            </a:endParaRPr>
          </a:p>
          <a:p>
            <a:pPr algn="ctr"/>
            <a:r>
              <a:rPr lang="en-US" sz="2500" b="1" dirty="0">
                <a:solidFill>
                  <a:srgbClr val="2E7D32"/>
                </a:solidFill>
              </a:rPr>
              <a:t>95%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D1888B-D803-7391-679F-A00F573700A9}"/>
              </a:ext>
            </a:extLst>
          </p:cNvPr>
          <p:cNvSpPr/>
          <p:nvPr/>
        </p:nvSpPr>
        <p:spPr>
          <a:xfrm>
            <a:off x="3199123" y="2109842"/>
            <a:ext cx="2788031" cy="128936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55555"/>
                </a:solidFill>
              </a:rPr>
              <a:t>EFFECTIVENESS RATE</a:t>
            </a:r>
          </a:p>
          <a:p>
            <a:pPr algn="ctr"/>
            <a:endParaRPr lang="en-US" sz="1100" b="1" dirty="0">
              <a:solidFill>
                <a:srgbClr val="555555"/>
              </a:solidFill>
            </a:endParaRPr>
          </a:p>
          <a:p>
            <a:pPr algn="ctr"/>
            <a:r>
              <a:rPr lang="en-US" sz="2500" b="1" dirty="0">
                <a:solidFill>
                  <a:srgbClr val="2E7D32"/>
                </a:solidFill>
              </a:rPr>
              <a:t>92%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77D34A-7106-5B15-1624-942235CFD1E0}"/>
              </a:ext>
            </a:extLst>
          </p:cNvPr>
          <p:cNvSpPr/>
          <p:nvPr/>
        </p:nvSpPr>
        <p:spPr>
          <a:xfrm>
            <a:off x="6176210" y="2109842"/>
            <a:ext cx="2788031" cy="128936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55555"/>
                </a:solidFill>
              </a:rPr>
              <a:t>RECOMMENDATION RATE</a:t>
            </a:r>
          </a:p>
          <a:p>
            <a:pPr algn="ctr"/>
            <a:endParaRPr lang="en-US" sz="1100" b="1" dirty="0">
              <a:solidFill>
                <a:srgbClr val="2E7D32"/>
              </a:solidFill>
            </a:endParaRPr>
          </a:p>
          <a:p>
            <a:pPr algn="ctr"/>
            <a:r>
              <a:rPr lang="en-US" sz="2500" b="1" dirty="0">
                <a:solidFill>
                  <a:srgbClr val="2E7D32"/>
                </a:solidFill>
              </a:rPr>
              <a:t>78%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24C13B-B4A4-2C43-BB47-E691DBD5C2B8}"/>
              </a:ext>
            </a:extLst>
          </p:cNvPr>
          <p:cNvSpPr/>
          <p:nvPr/>
        </p:nvSpPr>
        <p:spPr>
          <a:xfrm>
            <a:off x="9153297" y="2109842"/>
            <a:ext cx="2788031" cy="128936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555555"/>
                </a:solidFill>
              </a:rPr>
              <a:t>SIDE EFFECTS RATE</a:t>
            </a:r>
          </a:p>
          <a:p>
            <a:pPr algn="ctr"/>
            <a:endParaRPr lang="en-US" sz="1100" b="1" dirty="0">
              <a:solidFill>
                <a:srgbClr val="555555"/>
              </a:solidFill>
            </a:endParaRPr>
          </a:p>
          <a:p>
            <a:pPr algn="ctr"/>
            <a:r>
              <a:rPr lang="en-US" sz="2500" b="1" dirty="0">
                <a:solidFill>
                  <a:srgbClr val="2E7D32"/>
                </a:solidFill>
              </a:rPr>
              <a:t>37%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35C427-9426-3103-1482-3768AF525753}"/>
              </a:ext>
            </a:extLst>
          </p:cNvPr>
          <p:cNvSpPr txBox="1"/>
          <p:nvPr/>
        </p:nvSpPr>
        <p:spPr>
          <a:xfrm>
            <a:off x="194677" y="3439140"/>
            <a:ext cx="6116767" cy="1954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12121"/>
                </a:solidFill>
              </a:rPr>
              <a:t>KEY INSIGHTS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</a:rPr>
              <a:t>• Herbal remedies were widely used among the surveyed respondents.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</a:rPr>
              <a:t>• Most respondents perceived herbal remedies as effective.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</a:rPr>
              <a:t>• A substantial proportion of respondents indicated willingness to recommend herbal remedies.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</a:rPr>
              <a:t>• More than one-third of respondents reported experiencing side effects.</a:t>
            </a:r>
            <a:endParaRPr lang="en-US" b="1" dirty="0">
              <a:solidFill>
                <a:srgbClr val="21212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12D78B-BB9B-C6B0-3C50-394788B0BE56}"/>
              </a:ext>
            </a:extLst>
          </p:cNvPr>
          <p:cNvSpPr/>
          <p:nvPr/>
        </p:nvSpPr>
        <p:spPr>
          <a:xfrm>
            <a:off x="194677" y="5421273"/>
            <a:ext cx="11584953" cy="1289363"/>
          </a:xfrm>
          <a:prstGeom prst="roundRect">
            <a:avLst/>
          </a:prstGeom>
          <a:solidFill>
            <a:srgbClr val="F5F7F5"/>
          </a:solidFill>
          <a:ln>
            <a:solidFill>
              <a:srgbClr val="D9E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2E7D32"/>
                </a:solidFill>
              </a:rPr>
              <a:t>ANALYTICAL NOTE</a:t>
            </a:r>
          </a:p>
          <a:p>
            <a:pPr algn="ctr"/>
            <a:endParaRPr lang="en-US" sz="1100" b="1" dirty="0">
              <a:solidFill>
                <a:srgbClr val="555555"/>
              </a:solidFill>
            </a:endParaRPr>
          </a:p>
          <a:p>
            <a:pPr algn="ctr"/>
            <a:r>
              <a:rPr lang="en-US" sz="1200" b="1" dirty="0">
                <a:solidFill>
                  <a:srgbClr val="333333"/>
                </a:solidFill>
              </a:rPr>
              <a:t>The findings highlight both the continued use of herbal remedies and the importance of safe-use awareness, appropriate guidance, and further public health education.</a:t>
            </a:r>
            <a:endParaRPr lang="en-US" sz="2800" b="1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1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AC8101-2F66-704B-8A42-98B1E9984780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F4CD0E-2D2E-F184-B905-3309AA135214}"/>
              </a:ext>
            </a:extLst>
          </p:cNvPr>
          <p:cNvCxnSpPr>
            <a:cxnSpLocks/>
          </p:cNvCxnSpPr>
          <p:nvPr/>
        </p:nvCxnSpPr>
        <p:spPr>
          <a:xfrm flipV="1">
            <a:off x="6448926" y="1280382"/>
            <a:ext cx="5743074" cy="18229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671A98-DAF7-018E-8788-6CCA43D7D10A}"/>
              </a:ext>
            </a:extLst>
          </p:cNvPr>
          <p:cNvSpPr txBox="1"/>
          <p:nvPr/>
        </p:nvSpPr>
        <p:spPr>
          <a:xfrm>
            <a:off x="-16042" y="1298611"/>
            <a:ext cx="69600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 &amp; CHALLENGES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2A94B4-8128-A3ED-8F79-F664949C8B7D}"/>
              </a:ext>
            </a:extLst>
          </p:cNvPr>
          <p:cNvSpPr/>
          <p:nvPr/>
        </p:nvSpPr>
        <p:spPr>
          <a:xfrm>
            <a:off x="95159" y="2001494"/>
            <a:ext cx="5792294" cy="3285180"/>
          </a:xfrm>
          <a:prstGeom prst="roundRect">
            <a:avLst/>
          </a:prstGeom>
          <a:solidFill>
            <a:srgbClr val="FFF4E5"/>
          </a:solidFill>
          <a:ln>
            <a:solidFill>
              <a:srgbClr val="F1D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A2AE72-E4ED-2990-51D2-B782117FA4B9}"/>
              </a:ext>
            </a:extLst>
          </p:cNvPr>
          <p:cNvSpPr txBox="1"/>
          <p:nvPr/>
        </p:nvSpPr>
        <p:spPr>
          <a:xfrm>
            <a:off x="1653248" y="2438063"/>
            <a:ext cx="1945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65D00"/>
                </a:solidFill>
              </a:rPr>
              <a:t>CHALLENGES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7A108-68BB-792A-F355-CC659440B0FB}"/>
              </a:ext>
            </a:extLst>
          </p:cNvPr>
          <p:cNvSpPr txBox="1"/>
          <p:nvPr/>
        </p:nvSpPr>
        <p:spPr>
          <a:xfrm>
            <a:off x="264696" y="3146532"/>
            <a:ext cx="5157536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</a:rPr>
              <a:t>• Respondent availability and engagement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</a:rPr>
              <a:t>• Data collection across different platforms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</a:rPr>
              <a:t>• Maintaining consistency during data preparation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</a:rPr>
              <a:t>• Ensuring data quality before analysis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64068F-29C0-1324-DE61-29EDD7A3066D}"/>
              </a:ext>
            </a:extLst>
          </p:cNvPr>
          <p:cNvSpPr/>
          <p:nvPr/>
        </p:nvSpPr>
        <p:spPr>
          <a:xfrm>
            <a:off x="6011778" y="2001494"/>
            <a:ext cx="5915526" cy="3285180"/>
          </a:xfrm>
          <a:prstGeom prst="roundRect">
            <a:avLst/>
          </a:prstGeom>
          <a:solidFill>
            <a:srgbClr val="E8F5E9"/>
          </a:solidFill>
          <a:ln>
            <a:solidFill>
              <a:srgbClr val="C8E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1AF35A-E36F-9129-17AD-6B52373D30C2}"/>
              </a:ext>
            </a:extLst>
          </p:cNvPr>
          <p:cNvSpPr txBox="1"/>
          <p:nvPr/>
        </p:nvSpPr>
        <p:spPr>
          <a:xfrm>
            <a:off x="8035089" y="2131722"/>
            <a:ext cx="2570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7D32"/>
                </a:solidFill>
              </a:rPr>
              <a:t>LESSONS LEARNED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F95941-87CA-2241-4891-B693ED153CDD}"/>
              </a:ext>
            </a:extLst>
          </p:cNvPr>
          <p:cNvSpPr txBox="1"/>
          <p:nvPr/>
        </p:nvSpPr>
        <p:spPr>
          <a:xfrm>
            <a:off x="6011778" y="3146532"/>
            <a:ext cx="618423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555555"/>
                </a:solidFill>
              </a:rPr>
              <a:t>• Digital data collection improves data organization.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555555"/>
                </a:solidFill>
              </a:rPr>
              <a:t>• Data cleaning is essential before analysis.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555555"/>
                </a:solidFill>
              </a:rPr>
              <a:t>• Cross-tool validation strengthens confidence in results.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555555"/>
                </a:solidFill>
              </a:rPr>
              <a:t>• Data visualization makes findings easier to communicate.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E3994D-B891-163F-0952-3E8FF398B493}"/>
              </a:ext>
            </a:extLst>
          </p:cNvPr>
          <p:cNvSpPr txBox="1"/>
          <p:nvPr/>
        </p:nvSpPr>
        <p:spPr>
          <a:xfrm>
            <a:off x="173911" y="5748106"/>
            <a:ext cx="116757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2E7D32"/>
                </a:solidFill>
              </a:rPr>
              <a:t>PROJECT TAKEAWAY</a:t>
            </a:r>
          </a:p>
          <a:p>
            <a:r>
              <a:rPr lang="en-US" dirty="0">
                <a:solidFill>
                  <a:srgbClr val="333333"/>
                </a:solidFill>
              </a:rPr>
              <a:t>Structured data collection, careful data preparation, and cross-tool validation are critical to producing reliable analytical results.</a:t>
            </a:r>
          </a:p>
        </p:txBody>
      </p:sp>
    </p:spTree>
    <p:extLst>
      <p:ext uri="{BB962C8B-B14F-4D97-AF65-F5344CB8AC3E}">
        <p14:creationId xmlns:p14="http://schemas.microsoft.com/office/powerpoint/2010/main" val="3773540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DE852D-D8E9-6053-EC3C-A5E3569300DF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361B3EB-D7EA-7EC0-3FFA-66DA5206DC76}"/>
              </a:ext>
            </a:extLst>
          </p:cNvPr>
          <p:cNvCxnSpPr>
            <a:cxnSpLocks/>
          </p:cNvCxnSpPr>
          <p:nvPr/>
        </p:nvCxnSpPr>
        <p:spPr>
          <a:xfrm>
            <a:off x="6595672" y="1280382"/>
            <a:ext cx="5596328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F4F43EE-FABC-018E-1885-62C8CAEA33AE}"/>
              </a:ext>
            </a:extLst>
          </p:cNvPr>
          <p:cNvSpPr txBox="1"/>
          <p:nvPr/>
        </p:nvSpPr>
        <p:spPr>
          <a:xfrm>
            <a:off x="0" y="1280381"/>
            <a:ext cx="6973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CONCLUSION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13F618-CA37-E1FB-6DD1-5A37B397DC5E}"/>
              </a:ext>
            </a:extLst>
          </p:cNvPr>
          <p:cNvSpPr/>
          <p:nvPr/>
        </p:nvSpPr>
        <p:spPr>
          <a:xfrm>
            <a:off x="242810" y="2189094"/>
            <a:ext cx="5742858" cy="3388523"/>
          </a:xfrm>
          <a:prstGeom prst="roundRect">
            <a:avLst/>
          </a:prstGeom>
          <a:solidFill>
            <a:srgbClr val="E8F5E9"/>
          </a:solidFill>
          <a:ln>
            <a:solidFill>
              <a:srgbClr val="C8E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E7D32"/>
                </a:solidFill>
              </a:rPr>
              <a:t>RECOMMENDATIONS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</a:rPr>
              <a:t>• Promote safe and informed use of herbal remedies.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</a:rPr>
              <a:t>• Strengthen public awareness on potential side effects and appropriate use.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</a:rPr>
              <a:t>• Encourage consultation with qualified healthcare or traditional medicine practitioners.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55555"/>
                </a:solidFill>
              </a:rPr>
              <a:t>• Improve documentation and monitoring of herbal remedy use.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DCD360-31B2-70B4-C8D9-F1F0C723F891}"/>
              </a:ext>
            </a:extLst>
          </p:cNvPr>
          <p:cNvSpPr/>
          <p:nvPr/>
        </p:nvSpPr>
        <p:spPr>
          <a:xfrm>
            <a:off x="6131170" y="2189095"/>
            <a:ext cx="5742858" cy="3388523"/>
          </a:xfrm>
          <a:prstGeom prst="roundRect">
            <a:avLst/>
          </a:prstGeom>
          <a:solidFill>
            <a:srgbClr val="E8F5E9"/>
          </a:solidFill>
          <a:ln>
            <a:solidFill>
              <a:srgbClr val="C8E6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E7D32"/>
                </a:solidFill>
              </a:rPr>
              <a:t>CONCLUSION</a:t>
            </a:r>
          </a:p>
          <a:p>
            <a:r>
              <a:rPr lang="en-US" sz="1400" dirty="0">
                <a:solidFill>
                  <a:srgbClr val="555555"/>
                </a:solidFill>
              </a:rPr>
              <a:t>The survey shows that herbal remedies remain widely used among the respondents.</a:t>
            </a:r>
          </a:p>
          <a:p>
            <a:endParaRPr lang="en-US" sz="1400" dirty="0">
              <a:solidFill>
                <a:srgbClr val="555555"/>
              </a:solidFill>
            </a:endParaRPr>
          </a:p>
          <a:p>
            <a:r>
              <a:rPr lang="en-US" sz="1400" dirty="0">
                <a:solidFill>
                  <a:srgbClr val="555555"/>
                </a:solidFill>
              </a:rPr>
              <a:t>The findings also indicate a strong perception of effectiveness and willingness to recommend herbal remedies, while reported side effects highlight the importance of safe-use awareness.</a:t>
            </a:r>
          </a:p>
          <a:p>
            <a:endParaRPr lang="en-US" sz="1400" dirty="0">
              <a:solidFill>
                <a:srgbClr val="555555"/>
              </a:solidFill>
            </a:endParaRPr>
          </a:p>
          <a:p>
            <a:r>
              <a:rPr lang="en-US" sz="1400" dirty="0">
                <a:solidFill>
                  <a:srgbClr val="555555"/>
                </a:solidFill>
              </a:rPr>
              <a:t>Overall, the project demonstrates how structured digital data collection, data preparation, analysis, and visualization can support evidence-based understanding of herbal remedy use.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86106-5DE2-CC6D-AE48-D75F4FE4B7C8}"/>
              </a:ext>
            </a:extLst>
          </p:cNvPr>
          <p:cNvSpPr txBox="1"/>
          <p:nvPr/>
        </p:nvSpPr>
        <p:spPr>
          <a:xfrm>
            <a:off x="692359" y="5966351"/>
            <a:ext cx="111816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E7D32"/>
                </a:solidFill>
              </a:rPr>
              <a:t>KEY MESSAGE</a:t>
            </a:r>
          </a:p>
          <a:p>
            <a:r>
              <a:rPr lang="en-US" sz="1400" dirty="0">
                <a:solidFill>
                  <a:srgbClr val="555555"/>
                </a:solidFill>
              </a:rPr>
              <a:t>Evidence-based analysis can help translate community survey data into practical insights for safer and more informed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77024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6384E1-4EBD-B162-7F11-B96C4D86D488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61A08-9DB6-18CF-8635-5547EB5C89CF}"/>
              </a:ext>
            </a:extLst>
          </p:cNvPr>
          <p:cNvCxnSpPr>
            <a:cxnSpLocks/>
          </p:cNvCxnSpPr>
          <p:nvPr/>
        </p:nvCxnSpPr>
        <p:spPr>
          <a:xfrm>
            <a:off x="4712677" y="1280382"/>
            <a:ext cx="7479323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91F6D4F-629A-BC38-696F-436DCB40ACB5}"/>
              </a:ext>
            </a:extLst>
          </p:cNvPr>
          <p:cNvSpPr txBox="1"/>
          <p:nvPr/>
        </p:nvSpPr>
        <p:spPr>
          <a:xfrm>
            <a:off x="0" y="1280381"/>
            <a:ext cx="6973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D619A3-C461-76BA-337C-EAE3AB7A8928}"/>
              </a:ext>
            </a:extLst>
          </p:cNvPr>
          <p:cNvSpPr/>
          <p:nvPr/>
        </p:nvSpPr>
        <p:spPr>
          <a:xfrm>
            <a:off x="37758" y="2572957"/>
            <a:ext cx="1773975" cy="136185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2E7D32"/>
                </a:solidFill>
              </a:rPr>
              <a:t>01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DATA COLLECTION</a:t>
            </a:r>
          </a:p>
          <a:p>
            <a:pPr algn="ctr"/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 err="1">
                <a:solidFill>
                  <a:srgbClr val="333333"/>
                </a:solidFill>
              </a:rPr>
              <a:t>KoboToolbox</a:t>
            </a:r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 err="1">
                <a:solidFill>
                  <a:srgbClr val="333333"/>
                </a:solidFill>
              </a:rPr>
              <a:t>CommCare</a:t>
            </a:r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Google Forms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19349E-C6CA-75E0-382F-1EAEC4FC2259}"/>
              </a:ext>
            </a:extLst>
          </p:cNvPr>
          <p:cNvSpPr/>
          <p:nvPr/>
        </p:nvSpPr>
        <p:spPr>
          <a:xfrm>
            <a:off x="2599710" y="2572957"/>
            <a:ext cx="1773974" cy="136185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2E7D32"/>
                </a:solidFill>
              </a:rPr>
              <a:t>02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DATA PREPARATION</a:t>
            </a:r>
          </a:p>
          <a:p>
            <a:pPr algn="ctr"/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Review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Cleaning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Standardization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3DD340-EE76-D8C6-D53E-E8B4EE8C9CB3}"/>
              </a:ext>
            </a:extLst>
          </p:cNvPr>
          <p:cNvSpPr/>
          <p:nvPr/>
        </p:nvSpPr>
        <p:spPr>
          <a:xfrm>
            <a:off x="5161661" y="2572957"/>
            <a:ext cx="1773974" cy="136185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2E7D32"/>
                </a:solidFill>
              </a:rPr>
              <a:t>03</a:t>
            </a:r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DATA ANALYSIS</a:t>
            </a:r>
          </a:p>
          <a:p>
            <a:pPr algn="ctr"/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Excel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SQL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Power BI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367D9C-7466-0057-FF58-C91ECCE63B8F}"/>
              </a:ext>
            </a:extLst>
          </p:cNvPr>
          <p:cNvSpPr/>
          <p:nvPr/>
        </p:nvSpPr>
        <p:spPr>
          <a:xfrm>
            <a:off x="7723612" y="2572957"/>
            <a:ext cx="1773974" cy="136185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2E7D32"/>
                </a:solidFill>
              </a:rPr>
              <a:t>04</a:t>
            </a:r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VALIDATION</a:t>
            </a:r>
          </a:p>
          <a:p>
            <a:pPr algn="ctr"/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Cross-tool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Result Checking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QA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B32AB4-30C6-D740-03AD-6CFBC9CB1AED}"/>
              </a:ext>
            </a:extLst>
          </p:cNvPr>
          <p:cNvSpPr/>
          <p:nvPr/>
        </p:nvSpPr>
        <p:spPr>
          <a:xfrm>
            <a:off x="10285563" y="2572957"/>
            <a:ext cx="1773974" cy="136185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2E7D32"/>
                </a:solidFill>
              </a:rPr>
              <a:t>05</a:t>
            </a:r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REPORTING</a:t>
            </a:r>
          </a:p>
          <a:p>
            <a:pPr algn="ctr"/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Dashboard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Presentation</a:t>
            </a:r>
          </a:p>
          <a:p>
            <a:pPr algn="ctr"/>
            <a:r>
              <a:rPr lang="en-US" sz="1200" dirty="0">
                <a:solidFill>
                  <a:srgbClr val="333333"/>
                </a:solidFill>
              </a:rPr>
              <a:t>Documentation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9AEF43-E1E1-5B7D-7B5E-E28D9BF2558D}"/>
              </a:ext>
            </a:extLst>
          </p:cNvPr>
          <p:cNvCxnSpPr>
            <a:cxnSpLocks/>
          </p:cNvCxnSpPr>
          <p:nvPr/>
        </p:nvCxnSpPr>
        <p:spPr>
          <a:xfrm>
            <a:off x="1969476" y="325388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D4F608-3FCA-AFEA-EE62-458CF293C5C4}"/>
              </a:ext>
            </a:extLst>
          </p:cNvPr>
          <p:cNvCxnSpPr>
            <a:cxnSpLocks/>
          </p:cNvCxnSpPr>
          <p:nvPr/>
        </p:nvCxnSpPr>
        <p:spPr>
          <a:xfrm>
            <a:off x="4484077" y="325388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FBBD9D-9603-8A14-0500-E33E95DB7090}"/>
              </a:ext>
            </a:extLst>
          </p:cNvPr>
          <p:cNvCxnSpPr>
            <a:cxnSpLocks/>
          </p:cNvCxnSpPr>
          <p:nvPr/>
        </p:nvCxnSpPr>
        <p:spPr>
          <a:xfrm>
            <a:off x="7115908" y="32311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AEE4D8-5C92-A89E-48E4-C384EC552454}"/>
              </a:ext>
            </a:extLst>
          </p:cNvPr>
          <p:cNvCxnSpPr>
            <a:cxnSpLocks/>
          </p:cNvCxnSpPr>
          <p:nvPr/>
        </p:nvCxnSpPr>
        <p:spPr>
          <a:xfrm>
            <a:off x="9677400" y="325608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C954B42-35E5-C5D5-231A-4E172242E389}"/>
              </a:ext>
            </a:extLst>
          </p:cNvPr>
          <p:cNvSpPr txBox="1"/>
          <p:nvPr/>
        </p:nvSpPr>
        <p:spPr>
          <a:xfrm>
            <a:off x="818042" y="4360144"/>
            <a:ext cx="10858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33333"/>
                </a:solidFill>
              </a:rPr>
              <a:t>The project followed a structured workflow from digital data collection through data preparation, analysis, validation, and final reporting.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7BB401D-DC9B-A538-CB77-A327FF17DC18}"/>
              </a:ext>
            </a:extLst>
          </p:cNvPr>
          <p:cNvSpPr/>
          <p:nvPr/>
        </p:nvSpPr>
        <p:spPr>
          <a:xfrm>
            <a:off x="7070998" y="5038870"/>
            <a:ext cx="3079201" cy="1361853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</a:rPr>
              <a:t>FINAL ANALYTICAL DATASET</a:t>
            </a:r>
          </a:p>
          <a:p>
            <a:pPr algn="ctr"/>
            <a:endParaRPr lang="en-US" sz="1200" dirty="0">
              <a:solidFill>
                <a:srgbClr val="333333"/>
              </a:solidFill>
            </a:endParaRPr>
          </a:p>
          <a:p>
            <a:pPr algn="ctr"/>
            <a:r>
              <a:rPr lang="en-US" b="1" dirty="0">
                <a:solidFill>
                  <a:srgbClr val="2E7D32"/>
                </a:solidFill>
              </a:rPr>
              <a:t>60 Respondents</a:t>
            </a:r>
          </a:p>
        </p:txBody>
      </p:sp>
    </p:spTree>
    <p:extLst>
      <p:ext uri="{BB962C8B-B14F-4D97-AF65-F5344CB8AC3E}">
        <p14:creationId xmlns:p14="http://schemas.microsoft.com/office/powerpoint/2010/main" val="4192671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B6E3D-E415-FD06-76B8-B577C7D97B96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1D546E-358B-1032-CA51-A7661F52A64E}"/>
              </a:ext>
            </a:extLst>
          </p:cNvPr>
          <p:cNvSpPr txBox="1"/>
          <p:nvPr/>
        </p:nvSpPr>
        <p:spPr>
          <a:xfrm>
            <a:off x="0" y="1280381"/>
            <a:ext cx="6973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TOOLS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BC8C82-3B73-F98D-10B6-66A277255BE3}"/>
              </a:ext>
            </a:extLst>
          </p:cNvPr>
          <p:cNvCxnSpPr>
            <a:cxnSpLocks/>
          </p:cNvCxnSpPr>
          <p:nvPr/>
        </p:nvCxnSpPr>
        <p:spPr>
          <a:xfrm>
            <a:off x="4865077" y="1432782"/>
            <a:ext cx="7479323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595AC6-82EB-658F-F776-8A857107A3AF}"/>
              </a:ext>
            </a:extLst>
          </p:cNvPr>
          <p:cNvSpPr/>
          <p:nvPr/>
        </p:nvSpPr>
        <p:spPr>
          <a:xfrm>
            <a:off x="1125416" y="2273837"/>
            <a:ext cx="3079201" cy="17318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E7D32"/>
                </a:solidFill>
              </a:rPr>
              <a:t>EXCEL</a:t>
            </a:r>
          </a:p>
          <a:p>
            <a:pPr algn="ctr"/>
            <a:endParaRPr lang="en-US" b="1" dirty="0">
              <a:solidFill>
                <a:srgbClr val="2E7D32"/>
              </a:solidFill>
            </a:endParaRPr>
          </a:p>
          <a:p>
            <a:pPr algn="ctr"/>
            <a:r>
              <a:rPr lang="en-US" dirty="0">
                <a:solidFill>
                  <a:srgbClr val="333333"/>
                </a:solidFill>
              </a:rPr>
              <a:t>Data Cleaning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Data Preparation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Initial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8839A2-EED5-6E47-8EB8-6F54B09FFF6B}"/>
              </a:ext>
            </a:extLst>
          </p:cNvPr>
          <p:cNvSpPr/>
          <p:nvPr/>
        </p:nvSpPr>
        <p:spPr>
          <a:xfrm>
            <a:off x="4450892" y="2273837"/>
            <a:ext cx="3079201" cy="1731832"/>
          </a:xfrm>
          <a:prstGeom prst="roundRect">
            <a:avLst/>
          </a:prstGeom>
          <a:solidFill>
            <a:srgbClr val="F5F7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E7D32"/>
                </a:solidFill>
              </a:rPr>
              <a:t>SQL</a:t>
            </a:r>
          </a:p>
          <a:p>
            <a:pPr algn="ctr"/>
            <a:endParaRPr lang="en-US" dirty="0">
              <a:solidFill>
                <a:srgbClr val="333333"/>
              </a:solidFill>
            </a:endParaRPr>
          </a:p>
          <a:p>
            <a:pPr algn="ctr"/>
            <a:r>
              <a:rPr lang="en-US" dirty="0">
                <a:solidFill>
                  <a:srgbClr val="333333"/>
                </a:solidFill>
              </a:rPr>
              <a:t>Data Integration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Querying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Analytical Validation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353566-A727-653C-A4FA-DA09449E893D}"/>
              </a:ext>
            </a:extLst>
          </p:cNvPr>
          <p:cNvSpPr/>
          <p:nvPr/>
        </p:nvSpPr>
        <p:spPr>
          <a:xfrm>
            <a:off x="7776368" y="2298698"/>
            <a:ext cx="3079201" cy="17318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E7D32"/>
                </a:solidFill>
              </a:rPr>
              <a:t>POWER BI</a:t>
            </a:r>
          </a:p>
          <a:p>
            <a:pPr algn="ctr"/>
            <a:endParaRPr lang="en-US" dirty="0">
              <a:solidFill>
                <a:srgbClr val="333333"/>
              </a:solidFill>
            </a:endParaRPr>
          </a:p>
          <a:p>
            <a:pPr algn="ctr"/>
            <a:r>
              <a:rPr lang="en-US" dirty="0">
                <a:solidFill>
                  <a:srgbClr val="333333"/>
                </a:solidFill>
              </a:rPr>
              <a:t>Dashboard Development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KPI Visualization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Data Storytelling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96D85D-3459-0F6F-8173-812D9892C083}"/>
              </a:ext>
            </a:extLst>
          </p:cNvPr>
          <p:cNvSpPr txBox="1"/>
          <p:nvPr/>
        </p:nvSpPr>
        <p:spPr>
          <a:xfrm>
            <a:off x="4507204" y="4173444"/>
            <a:ext cx="2926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12121"/>
                </a:solidFill>
              </a:rPr>
              <a:t>ANALYTICAL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1D3C2A-4573-9836-9067-1A22DC94ADF2}"/>
              </a:ext>
            </a:extLst>
          </p:cNvPr>
          <p:cNvSpPr txBox="1"/>
          <p:nvPr/>
        </p:nvSpPr>
        <p:spPr>
          <a:xfrm>
            <a:off x="2117909" y="4542776"/>
            <a:ext cx="9048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Cleaning  →  Data Integration  →  Analysis  →  Visualization  →  Reporting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96476A-C774-F3C0-37EC-DF8916662177}"/>
              </a:ext>
            </a:extLst>
          </p:cNvPr>
          <p:cNvSpPr/>
          <p:nvPr/>
        </p:nvSpPr>
        <p:spPr>
          <a:xfrm>
            <a:off x="4354895" y="5029098"/>
            <a:ext cx="3079201" cy="1731832"/>
          </a:xfrm>
          <a:prstGeom prst="roundRect">
            <a:avLst/>
          </a:prstGeom>
          <a:solidFill>
            <a:srgbClr val="F5F7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E7D32"/>
                </a:solidFill>
              </a:rPr>
              <a:t>FINAL OUTPUT</a:t>
            </a:r>
          </a:p>
          <a:p>
            <a:pPr algn="ctr"/>
            <a:endParaRPr lang="en-US" dirty="0">
              <a:solidFill>
                <a:srgbClr val="333333"/>
              </a:solidFill>
            </a:endParaRPr>
          </a:p>
          <a:p>
            <a:pPr algn="ctr"/>
            <a:r>
              <a:rPr lang="en-US" sz="1600" dirty="0">
                <a:solidFill>
                  <a:srgbClr val="333333"/>
                </a:solidFill>
              </a:rPr>
              <a:t>Validated analytical findings</a:t>
            </a:r>
          </a:p>
          <a:p>
            <a:pPr algn="ctr"/>
            <a:r>
              <a:rPr lang="en-US" sz="1600" dirty="0">
                <a:solidFill>
                  <a:srgbClr val="333333"/>
                </a:solidFill>
              </a:rPr>
              <a:t>and professional visual reporting</a:t>
            </a:r>
          </a:p>
        </p:txBody>
      </p:sp>
    </p:spTree>
    <p:extLst>
      <p:ext uri="{BB962C8B-B14F-4D97-AF65-F5344CB8AC3E}">
        <p14:creationId xmlns:p14="http://schemas.microsoft.com/office/powerpoint/2010/main" val="1008655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9EA69F-9E03-5FE4-8822-233107EA43B8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9CA6F-3878-EA5D-DF63-CDD1E6E5B95A}"/>
              </a:ext>
            </a:extLst>
          </p:cNvPr>
          <p:cNvSpPr txBox="1"/>
          <p:nvPr/>
        </p:nvSpPr>
        <p:spPr>
          <a:xfrm>
            <a:off x="0" y="1280381"/>
            <a:ext cx="6973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DELIVERABLES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04B9E2-C173-C629-2229-DC787076FC10}"/>
              </a:ext>
            </a:extLst>
          </p:cNvPr>
          <p:cNvCxnSpPr>
            <a:cxnSpLocks/>
          </p:cNvCxnSpPr>
          <p:nvPr/>
        </p:nvCxnSpPr>
        <p:spPr>
          <a:xfrm>
            <a:off x="4501662" y="1432782"/>
            <a:ext cx="7842738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4D16A3-2B9F-A420-F558-0B7354DBB216}"/>
              </a:ext>
            </a:extLst>
          </p:cNvPr>
          <p:cNvSpPr/>
          <p:nvPr/>
        </p:nvSpPr>
        <p:spPr>
          <a:xfrm>
            <a:off x="400661" y="2332844"/>
            <a:ext cx="3415201" cy="17318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E7D32"/>
                </a:solidFill>
              </a:rPr>
              <a:t>01</a:t>
            </a:r>
          </a:p>
          <a:p>
            <a:pPr algn="ctr"/>
            <a:endParaRPr lang="en-US" b="1" dirty="0">
              <a:solidFill>
                <a:srgbClr val="2E7D32"/>
              </a:solidFill>
            </a:endParaRPr>
          </a:p>
          <a:p>
            <a:pPr algn="ctr"/>
            <a:r>
              <a:rPr lang="en-US" b="1" dirty="0">
                <a:solidFill>
                  <a:srgbClr val="212121"/>
                </a:solidFill>
              </a:rPr>
              <a:t>CLEANED DATASET</a:t>
            </a:r>
          </a:p>
          <a:p>
            <a:pPr algn="ctr"/>
            <a:endParaRPr lang="en-US" dirty="0">
              <a:solidFill>
                <a:srgbClr val="333333"/>
              </a:solidFill>
            </a:endParaRPr>
          </a:p>
          <a:p>
            <a:pPr algn="ctr"/>
            <a:r>
              <a:rPr lang="en-US" dirty="0">
                <a:solidFill>
                  <a:srgbClr val="555555"/>
                </a:solidFill>
              </a:rPr>
              <a:t>Prepared and standardized</a:t>
            </a:r>
          </a:p>
          <a:p>
            <a:pPr algn="ctr"/>
            <a:r>
              <a:rPr lang="en-US" dirty="0">
                <a:solidFill>
                  <a:srgbClr val="555555"/>
                </a:solidFill>
              </a:rPr>
              <a:t>survey data for analysis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AAA332-70FB-0BC3-E3D2-4433AD26EAE0}"/>
              </a:ext>
            </a:extLst>
          </p:cNvPr>
          <p:cNvSpPr/>
          <p:nvPr/>
        </p:nvSpPr>
        <p:spPr>
          <a:xfrm>
            <a:off x="4356003" y="2332844"/>
            <a:ext cx="3415201" cy="17318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E7D32"/>
                </a:solidFill>
              </a:rPr>
              <a:t>02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b="1" dirty="0">
                <a:solidFill>
                  <a:srgbClr val="212121"/>
                </a:solidFill>
              </a:rPr>
              <a:t>DATA ANALYSIS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dirty="0">
                <a:solidFill>
                  <a:srgbClr val="555555"/>
                </a:solidFill>
              </a:rPr>
              <a:t>Excel and SQL-based</a:t>
            </a:r>
          </a:p>
          <a:p>
            <a:pPr algn="ctr"/>
            <a:r>
              <a:rPr lang="en-US" dirty="0">
                <a:solidFill>
                  <a:srgbClr val="555555"/>
                </a:solidFill>
              </a:rPr>
              <a:t>analytical outputs..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635B7F-F1F8-1C9C-B5ED-9CB99E8DB96A}"/>
              </a:ext>
            </a:extLst>
          </p:cNvPr>
          <p:cNvSpPr/>
          <p:nvPr/>
        </p:nvSpPr>
        <p:spPr>
          <a:xfrm>
            <a:off x="8311346" y="2332844"/>
            <a:ext cx="3415200" cy="1761757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E7D32"/>
                </a:solidFill>
              </a:rPr>
              <a:t>03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b="1" dirty="0">
                <a:solidFill>
                  <a:srgbClr val="212121"/>
                </a:solidFill>
              </a:rPr>
              <a:t>POWER BI DASHBOARD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dirty="0">
                <a:solidFill>
                  <a:srgbClr val="555555"/>
                </a:solidFill>
              </a:rPr>
              <a:t>Interactive visual analysis</a:t>
            </a:r>
          </a:p>
          <a:p>
            <a:pPr algn="ctr"/>
            <a:r>
              <a:rPr lang="en-US" dirty="0">
                <a:solidFill>
                  <a:srgbClr val="555555"/>
                </a:solidFill>
              </a:rPr>
              <a:t>and KPI reporting.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4AB0F0-C066-EE22-89CA-2822301215B9}"/>
              </a:ext>
            </a:extLst>
          </p:cNvPr>
          <p:cNvSpPr/>
          <p:nvPr/>
        </p:nvSpPr>
        <p:spPr>
          <a:xfrm>
            <a:off x="400661" y="4711703"/>
            <a:ext cx="3415201" cy="17318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E7D32"/>
                </a:solidFill>
              </a:rPr>
              <a:t>04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b="1" dirty="0">
                <a:solidFill>
                  <a:srgbClr val="212121"/>
                </a:solidFill>
              </a:rPr>
              <a:t>SURVEY REPORT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dirty="0">
                <a:solidFill>
                  <a:srgbClr val="555555"/>
                </a:solidFill>
              </a:rPr>
              <a:t>Structured presentation of</a:t>
            </a:r>
          </a:p>
          <a:p>
            <a:pPr algn="ctr"/>
            <a:r>
              <a:rPr lang="en-US" dirty="0">
                <a:solidFill>
                  <a:srgbClr val="555555"/>
                </a:solidFill>
              </a:rPr>
              <a:t>key findings and insights.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18EAF5-8380-07B4-F8D7-69B47BEBA356}"/>
              </a:ext>
            </a:extLst>
          </p:cNvPr>
          <p:cNvSpPr/>
          <p:nvPr/>
        </p:nvSpPr>
        <p:spPr>
          <a:xfrm>
            <a:off x="4356004" y="4711703"/>
            <a:ext cx="3332132" cy="17318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E7D32"/>
                </a:solidFill>
              </a:rPr>
              <a:t>05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b="1" dirty="0">
                <a:solidFill>
                  <a:srgbClr val="212121"/>
                </a:solidFill>
              </a:rPr>
              <a:t>DOCUMENTATION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dirty="0">
                <a:solidFill>
                  <a:srgbClr val="555555"/>
                </a:solidFill>
              </a:rPr>
              <a:t>Supporting documentation</a:t>
            </a:r>
          </a:p>
          <a:p>
            <a:pPr algn="ctr"/>
            <a:r>
              <a:rPr lang="en-US" dirty="0">
                <a:solidFill>
                  <a:srgbClr val="555555"/>
                </a:solidFill>
              </a:rPr>
              <a:t>for project reproducibility.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B98E9C-4B26-78FE-8530-248F432FC456}"/>
              </a:ext>
            </a:extLst>
          </p:cNvPr>
          <p:cNvSpPr/>
          <p:nvPr/>
        </p:nvSpPr>
        <p:spPr>
          <a:xfrm>
            <a:off x="8311347" y="4711703"/>
            <a:ext cx="3415200" cy="173183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2E7D32"/>
                </a:solidFill>
              </a:rPr>
              <a:t>06</a:t>
            </a:r>
          </a:p>
          <a:p>
            <a:pPr algn="ctr"/>
            <a:endParaRPr lang="en-US" b="1" dirty="0">
              <a:solidFill>
                <a:srgbClr val="212121"/>
              </a:solidFill>
            </a:endParaRPr>
          </a:p>
          <a:p>
            <a:pPr algn="ctr"/>
            <a:r>
              <a:rPr lang="en-US" b="1" dirty="0">
                <a:solidFill>
                  <a:srgbClr val="212121"/>
                </a:solidFill>
              </a:rPr>
              <a:t>PORTFOLIO ASSET</a:t>
            </a:r>
          </a:p>
          <a:p>
            <a:pPr algn="ctr"/>
            <a:endParaRPr lang="en-US" dirty="0">
              <a:solidFill>
                <a:srgbClr val="555555"/>
              </a:solidFill>
            </a:endParaRPr>
          </a:p>
          <a:p>
            <a:pPr algn="ctr"/>
            <a:r>
              <a:rPr lang="en-US" dirty="0">
                <a:solidFill>
                  <a:srgbClr val="555555"/>
                </a:solidFill>
              </a:rPr>
              <a:t>Professional project package</a:t>
            </a:r>
          </a:p>
          <a:p>
            <a:pPr algn="ctr"/>
            <a:r>
              <a:rPr lang="en-US" dirty="0">
                <a:solidFill>
                  <a:srgbClr val="555555"/>
                </a:solidFill>
              </a:rPr>
              <a:t>for portfolio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49575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113EFF-B4B5-0546-6B28-CBDCF1F69280}"/>
              </a:ext>
            </a:extLst>
          </p:cNvPr>
          <p:cNvSpPr/>
          <p:nvPr/>
        </p:nvSpPr>
        <p:spPr>
          <a:xfrm>
            <a:off x="0" y="13837"/>
            <a:ext cx="12192000" cy="1731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5A5C8-F03C-F55B-9506-809DCBDA7A3A}"/>
              </a:ext>
            </a:extLst>
          </p:cNvPr>
          <p:cNvSpPr txBox="1"/>
          <p:nvPr/>
        </p:nvSpPr>
        <p:spPr>
          <a:xfrm>
            <a:off x="4733192" y="1155783"/>
            <a:ext cx="3302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BF25C2-C42A-344B-D20A-9B10BE78C6D3}"/>
              </a:ext>
            </a:extLst>
          </p:cNvPr>
          <p:cNvCxnSpPr>
            <a:cxnSpLocks/>
          </p:cNvCxnSpPr>
          <p:nvPr/>
        </p:nvCxnSpPr>
        <p:spPr>
          <a:xfrm>
            <a:off x="1881555" y="1176994"/>
            <a:ext cx="7842738" cy="0"/>
          </a:xfrm>
          <a:prstGeom prst="line">
            <a:avLst/>
          </a:prstGeom>
          <a:ln>
            <a:solidFill>
              <a:schemeClr val="bg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2127779-813F-E099-23FC-014DD949303C}"/>
              </a:ext>
            </a:extLst>
          </p:cNvPr>
          <p:cNvSpPr txBox="1"/>
          <p:nvPr/>
        </p:nvSpPr>
        <p:spPr>
          <a:xfrm>
            <a:off x="3049466" y="2743841"/>
            <a:ext cx="6093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555555"/>
                </a:solidFill>
              </a:rPr>
              <a:t>Use of Herbal Remedies</a:t>
            </a:r>
          </a:p>
          <a:p>
            <a:pPr algn="ctr"/>
            <a:r>
              <a:rPr lang="en-US" dirty="0">
                <a:solidFill>
                  <a:srgbClr val="555555"/>
                </a:solidFill>
              </a:rPr>
              <a:t>Field Survey 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5A0B6-574E-97A0-18BF-CD6C306ADAC4}"/>
              </a:ext>
            </a:extLst>
          </p:cNvPr>
          <p:cNvSpPr txBox="1"/>
          <p:nvPr/>
        </p:nvSpPr>
        <p:spPr>
          <a:xfrm>
            <a:off x="3049466" y="4210072"/>
            <a:ext cx="6093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77777"/>
                </a:solidFill>
              </a:rPr>
              <a:t>Data-driven insights from community survey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B8CC1A-2939-7C2A-362A-BC0893272318}"/>
              </a:ext>
            </a:extLst>
          </p:cNvPr>
          <p:cNvSpPr txBox="1"/>
          <p:nvPr/>
        </p:nvSpPr>
        <p:spPr>
          <a:xfrm>
            <a:off x="3049466" y="5681006"/>
            <a:ext cx="609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777777"/>
                </a:solidFill>
              </a:rPr>
              <a:t>Presented by</a:t>
            </a:r>
          </a:p>
          <a:p>
            <a:pPr algn="ctr"/>
            <a:r>
              <a:rPr lang="en-US" sz="1600" dirty="0">
                <a:solidFill>
                  <a:srgbClr val="212121"/>
                </a:solidFill>
              </a:rPr>
              <a:t>UMAR MUSA ISAH</a:t>
            </a:r>
          </a:p>
        </p:txBody>
      </p:sp>
    </p:spTree>
    <p:extLst>
      <p:ext uri="{BB962C8B-B14F-4D97-AF65-F5344CB8AC3E}">
        <p14:creationId xmlns:p14="http://schemas.microsoft.com/office/powerpoint/2010/main" val="131169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750</Words>
  <Application>Microsoft Office PowerPoint</Application>
  <PresentationFormat>Widescreen</PresentationFormat>
  <Paragraphs>202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musa isah</dc:creator>
  <cp:lastModifiedBy>umar musa isah</cp:lastModifiedBy>
  <cp:revision>20</cp:revision>
  <dcterms:created xsi:type="dcterms:W3CDTF">2026-05-01T14:52:11Z</dcterms:created>
  <dcterms:modified xsi:type="dcterms:W3CDTF">2026-08-16T23:03:58Z</dcterms:modified>
</cp:coreProperties>
</file>